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13" r:id="rId2"/>
  </p:sldMasterIdLst>
  <p:sldIdLst>
    <p:sldId id="263" r:id="rId3"/>
    <p:sldId id="257" r:id="rId4"/>
    <p:sldId id="258" r:id="rId5"/>
    <p:sldId id="261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4118-EA4C-48D1-8263-D69C3B105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34D71-749A-429D-B03F-032ABF2EF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D2B0B-F5D9-4E94-8CD8-8A107D572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8F7C6-4C67-4C1E-B647-0CB34F8A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EE954-FF58-4ADF-A710-57C92BDB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70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92EC-5102-42B9-AC96-2484A1321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ADCEE-6DD1-4B98-A441-F75D76A56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90E25-499C-4DA7-842B-7C6524FE7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BBCB9-59EB-40B7-B696-085FCF924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6E8EC-D006-4D1C-8603-9058B1E5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72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50D4-E295-45A0-9A5A-378DAB68F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7851A-50E0-47B3-A074-128940205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10664-BC9A-40F8-BD17-2DDB3BA79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ECEB2-17F3-4D14-83EF-0F27777E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4DBB4-62BE-478D-9B76-A3A7DBF8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29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A7D5C-A2BC-406E-87FA-B1F41934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07BFE-F9F3-4AF2-A2FC-0BD938143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03887-EAB1-443C-98F9-1CBA29460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2267F-BB17-41AB-981C-1FF2C9DFE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D94C0-772A-4FB5-863B-C11AD41D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AF0DC-7A2A-491E-8ABB-D261824E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45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4020-BDD7-4EBB-AB22-A85EFB05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82087-91BF-4C8E-B12A-FD75DE843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984AD-AECA-44D6-9987-3C709CBB3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BBF944-3821-4F2C-B2DF-369A6F972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12B0F-0241-4BE9-9E6E-B61441CC3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173DA-7732-421A-BA4A-6F1DBA0B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1BC9CD-B782-472A-B296-0C408322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9B532F-68CB-416C-901D-0F1AE634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74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3E42-3395-444D-AD95-CE8F4144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73D0E-562F-4DFC-A077-463D3064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C678EB-C474-440E-AA6F-3572387A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4B940-B32C-47F7-93B7-8723122F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56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40B18-48C6-4AB2-812C-22450B76F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28A980-B518-4E23-940C-C1BA674F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12C10-9DA9-40C1-996A-F7BB0618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96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1B507-BB9E-49A5-8BEF-9D236123F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7BC28-3426-415B-8E1B-34A807BFC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736AC-093F-48A9-B27A-D747E22B0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456EA-3E42-45B5-9B12-04593CDA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B155D-2C29-4B66-80E8-1E070A73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8A704-B4C5-4D76-BAB5-1B4025DA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452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9620-CD7C-450E-A3BA-D4A86D50B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EFA40E-E418-4202-9FB7-A3FF3C1F6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E9E12-864F-4361-8A17-A86E8C32D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74BC4-61A5-4139-9B5F-E3EFA055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0A997-6301-4F08-8DB8-EAF6A2D97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69D1A-CDD9-44E9-A350-326D19BE0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363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79CD-0EE6-4FFC-84CD-6DFCE2CB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179EC4-D6FA-4FC5-806A-F8AEAA7E9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4AEDB-3B52-4F70-AD2E-846E9A63F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CD2C7-CA1E-44F5-86A7-2BB106BB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FE7F3-8000-43FF-AF18-BD24EC2B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5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B4859-930B-4659-B1EE-48E0B918C1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A3583-22A8-4CEB-8CB2-5B4686E92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6B38E-34CA-428B-BA5D-C1EF4AD7E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AA87C-EBE0-477A-ABD4-F61C525C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A591E-188C-4E9E-ABD9-2A5E8E2E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664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" y="-1"/>
            <a:ext cx="12302876" cy="5803900"/>
          </a:xfrm>
          <a:prstGeom prst="rect">
            <a:avLst/>
          </a:prstGeom>
          <a:gradFill flip="none" rotWithShape="1">
            <a:gsLst>
              <a:gs pos="0">
                <a:srgbClr val="005B82"/>
              </a:gs>
              <a:gs pos="100000">
                <a:srgbClr val="00A1C1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/>
          </a:p>
        </p:txBody>
      </p:sp>
      <p:sp>
        <p:nvSpPr>
          <p:cNvPr id="8" name="TextBox 7"/>
          <p:cNvSpPr txBox="1"/>
          <p:nvPr userDrawn="1"/>
        </p:nvSpPr>
        <p:spPr>
          <a:xfrm>
            <a:off x="670984" y="402315"/>
            <a:ext cx="6256683" cy="861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  <a:latin typeface="Swis721 LtEx BT" panose="020B0505020202020204" pitchFamily="34" charset="0"/>
              </a:rPr>
              <a:t>vision</a:t>
            </a:r>
            <a:r>
              <a:rPr lang="en-GB" sz="4800" b="1" dirty="0">
                <a:solidFill>
                  <a:schemeClr val="bg1"/>
                </a:solidFill>
                <a:latin typeface="Swis721 BT" panose="020B0504020202020204" pitchFamily="34" charset="0"/>
              </a:rPr>
              <a:t>2</a:t>
            </a:r>
            <a:r>
              <a:rPr lang="en-GB" sz="4800" dirty="0">
                <a:solidFill>
                  <a:schemeClr val="bg1"/>
                </a:solidFill>
                <a:latin typeface="Swis721 LtEx BT" panose="020B0505020202020204" pitchFamily="34" charset="0"/>
              </a:rPr>
              <a:t>learn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70984" y="1550743"/>
            <a:ext cx="6695016" cy="130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2743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806F2-7230-413D-A9CD-B94449F2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033BB-C9EE-4618-9B84-21E3EE6D1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37888-B4B7-419C-BCC0-EBF24FD5D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5936E-8338-4FF0-A335-701F0F342296}" type="datetimeFigureOut">
              <a:rPr lang="en-GB" smtClean="0"/>
              <a:t>07/07/2022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AFD96-B711-4422-9D70-C2417700D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C4C40-CAF9-4B2D-B1A5-C42A56B46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96219-CE3F-4E8B-ADB1-85C8BB4968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33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31027" y="-1"/>
            <a:ext cx="12223027" cy="6237313"/>
          </a:xfrm>
          <a:prstGeom prst="rect">
            <a:avLst/>
          </a:prstGeom>
          <a:gradFill flip="none" rotWithShape="1">
            <a:gsLst>
              <a:gs pos="0">
                <a:srgbClr val="005B82"/>
              </a:gs>
              <a:gs pos="100000">
                <a:srgbClr val="00A1C1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80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70984" y="433143"/>
            <a:ext cx="10860616" cy="130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0984" y="2730501"/>
            <a:ext cx="10860616" cy="3205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-31027" y="188640"/>
            <a:ext cx="558408" cy="60486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397" y="6326212"/>
            <a:ext cx="2048203" cy="25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89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ransition spd="slow"/>
  <p:txStyles>
    <p:titleStyle>
      <a:lvl1pPr algn="l" rtl="0" eaLnBrk="1" fontAlgn="base" hangingPunct="1">
        <a:spcBef>
          <a:spcPct val="0"/>
        </a:spcBef>
        <a:spcAft>
          <a:spcPct val="0"/>
        </a:spcAft>
        <a:defRPr sz="2700" b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chemeClr val="bg1"/>
          </a:solidFill>
          <a:latin typeface="Bliss 2 Regular" pitchFamily="50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Bliss 2 Regular" pitchFamily="50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 typeface="Verdana" panose="020B0604030504040204" pitchFamily="34" charset="0"/>
        <a:buNone/>
        <a:defRPr sz="1500">
          <a:solidFill>
            <a:schemeClr val="tx1"/>
          </a:solidFill>
          <a:latin typeface="+mj-lt"/>
          <a:ea typeface="+mn-ea"/>
          <a:cs typeface="+mn-cs"/>
        </a:defRPr>
      </a:lvl1pPr>
      <a:lvl2pPr marL="6000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j-lt"/>
        </a:defRPr>
      </a:lvl2pPr>
      <a:lvl3pPr marL="9429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00">
          <a:solidFill>
            <a:schemeClr val="tx1"/>
          </a:solidFill>
          <a:latin typeface="+mj-lt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j-lt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01" userDrawn="1">
          <p15:clr>
            <a:srgbClr val="F26B43"/>
          </p15:clr>
        </p15:guide>
        <p15:guide id="2" pos="4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AF1784-4500-4A9B-AFCD-A4F8F495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217" y="0"/>
            <a:ext cx="5212516" cy="1021293"/>
          </a:xfrm>
        </p:spPr>
        <p:txBody>
          <a:bodyPr>
            <a:normAutofit/>
          </a:bodyPr>
          <a:lstStyle/>
          <a:p>
            <a:br>
              <a:rPr lang="en-GB" sz="2000" dirty="0"/>
            </a:br>
            <a:r>
              <a:rPr lang="en-GB" sz="2000" dirty="0"/>
              <a:t>Certificate in Cyber Security Practices (L3)</a:t>
            </a:r>
            <a:br>
              <a:rPr lang="en-GB" sz="2000" dirty="0"/>
            </a:br>
            <a:r>
              <a:rPr lang="en-GB" sz="2000" dirty="0"/>
              <a:t>Unit 3 - Session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20B8C-9E63-493B-A86F-7A6BEA83BAE8}"/>
              </a:ext>
            </a:extLst>
          </p:cNvPr>
          <p:cNvSpPr txBox="1"/>
          <p:nvPr/>
        </p:nvSpPr>
        <p:spPr>
          <a:xfrm>
            <a:off x="733507" y="1343169"/>
            <a:ext cx="1091080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dirty="0">
                <a:solidFill>
                  <a:schemeClr val="bg1"/>
                </a:solidFill>
              </a:rPr>
              <a:t>You will have read the case study for Grange Road Secondary School on page 2 (session 2) of the course content and be aware of the vulnerabilities that have been identified within the school. R</a:t>
            </a:r>
            <a:r>
              <a:rPr lang="en-GB" sz="20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</a:rPr>
              <a:t>emember that </a:t>
            </a:r>
            <a:r>
              <a:rPr lang="en-GB" sz="2000" i="1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</a:rPr>
              <a:t>you</a:t>
            </a:r>
            <a:r>
              <a:rPr lang="en-GB" sz="20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</a:rPr>
              <a:t> are working within the IT department and answer the following to demonstrate what </a:t>
            </a:r>
            <a:r>
              <a:rPr lang="en-GB" sz="2000" i="1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</a:rPr>
              <a:t>you</a:t>
            </a:r>
            <a:r>
              <a:rPr lang="en-GB" sz="2000" dirty="0">
                <a:solidFill>
                  <a:schemeClr val="bg1"/>
                </a:solidFill>
                <a:effectLst/>
                <a:latin typeface="+mj-lt"/>
                <a:ea typeface="Calibri" panose="020F0502020204030204" pitchFamily="34" charset="0"/>
              </a:rPr>
              <a:t> will do in regards to the identified vulnerabilities. </a:t>
            </a:r>
            <a:endParaRPr lang="en-GB" sz="2000" dirty="0">
              <a:solidFill>
                <a:schemeClr val="bg1"/>
              </a:solidFill>
              <a:latin typeface="+mj-lt"/>
            </a:endParaRPr>
          </a:p>
          <a:p>
            <a:pPr algn="l"/>
            <a:endParaRPr lang="en-GB" sz="2200" dirty="0">
              <a:solidFill>
                <a:schemeClr val="bg1"/>
              </a:solidFill>
            </a:endParaRPr>
          </a:p>
          <a:p>
            <a:pPr algn="l"/>
            <a:r>
              <a:rPr lang="en-GB" sz="2200" dirty="0">
                <a:solidFill>
                  <a:schemeClr val="bg1"/>
                </a:solidFill>
              </a:rPr>
              <a:t>Use this document to:</a:t>
            </a:r>
          </a:p>
          <a:p>
            <a:pPr marL="457200" indent="-457200" algn="l">
              <a:buAutoNum type="alphaLcParenR"/>
            </a:pPr>
            <a:r>
              <a:rPr lang="en-GB" sz="2200" dirty="0">
                <a:solidFill>
                  <a:schemeClr val="bg1"/>
                </a:solidFill>
              </a:rPr>
              <a:t>Produce a flow chart that demonstrates the steps to be taken for the vulnerabilities. You must include the policies/procedures that should be referred to within the steps [2.2]</a:t>
            </a:r>
          </a:p>
          <a:p>
            <a:pPr marL="457200" indent="-457200" algn="l">
              <a:buFont typeface="Arial" panose="020B0604020202020204" pitchFamily="34" charset="0"/>
              <a:buAutoNum type="alphaLcParenR"/>
            </a:pPr>
            <a:r>
              <a:rPr lang="en-GB" sz="2200" dirty="0">
                <a:solidFill>
                  <a:schemeClr val="bg1"/>
                </a:solidFill>
              </a:rPr>
              <a:t>Describe how you will apply the correct response to the vulnerabilities [2.3]</a:t>
            </a:r>
          </a:p>
          <a:p>
            <a:pPr marL="457200" indent="-457200" algn="l">
              <a:buFont typeface="Arial" panose="020B0604020202020204" pitchFamily="34" charset="0"/>
              <a:buAutoNum type="alphaLcParenR"/>
            </a:pPr>
            <a:r>
              <a:rPr lang="en-GB" sz="2200" dirty="0">
                <a:solidFill>
                  <a:schemeClr val="bg1"/>
                </a:solidFill>
              </a:rPr>
              <a:t>Develop an appropriate communication to mitigate future vulnerabilities [2.4]</a:t>
            </a:r>
          </a:p>
          <a:p>
            <a:pPr marL="457200" indent="-457200" algn="l">
              <a:buFont typeface="Arial" panose="020B0604020202020204" pitchFamily="34" charset="0"/>
              <a:buAutoNum type="alphaLcParenR"/>
            </a:pPr>
            <a:endParaRPr lang="en-GB" sz="2200" dirty="0">
              <a:solidFill>
                <a:schemeClr val="bg1"/>
              </a:solidFill>
            </a:endParaRPr>
          </a:p>
          <a:p>
            <a:pPr algn="l"/>
            <a:r>
              <a:rPr lang="en-GB" sz="2000" dirty="0">
                <a:solidFill>
                  <a:schemeClr val="bg1"/>
                </a:solidFill>
              </a:rPr>
              <a:t>The following slides are provided for each of the above. You may insert additional slides and amend the layout as you wish. </a:t>
            </a:r>
          </a:p>
        </p:txBody>
      </p:sp>
    </p:spTree>
    <p:extLst>
      <p:ext uri="{BB962C8B-B14F-4D97-AF65-F5344CB8AC3E}">
        <p14:creationId xmlns:p14="http://schemas.microsoft.com/office/powerpoint/2010/main" val="4135287089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C911-E9E4-4FE6-9989-ADFDF666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7884" cy="1525668"/>
          </a:xfrm>
        </p:spPr>
        <p:txBody>
          <a:bodyPr>
            <a:noAutofit/>
          </a:bodyPr>
          <a:lstStyle/>
          <a:p>
            <a:pPr algn="l"/>
            <a:r>
              <a:rPr lang="en-GB" sz="2000" b="1" dirty="0"/>
              <a:t>a) Produce a flow chart that demonstrates the steps that </a:t>
            </a:r>
            <a:r>
              <a:rPr lang="en-GB" sz="2000" b="1" i="1" dirty="0"/>
              <a:t>you</a:t>
            </a:r>
            <a:r>
              <a:rPr lang="en-GB" sz="2000" b="1" dirty="0"/>
              <a:t> will take for the vulnerabilities. Remember to include the policies/procedures that should be referred to with the steps. </a:t>
            </a:r>
            <a:br>
              <a:rPr lang="en-GB" sz="2000" dirty="0"/>
            </a:br>
            <a:r>
              <a:rPr lang="en-GB" sz="2000" dirty="0"/>
              <a:t>(for instructions on completing a flow chart, refer to the webinar at the end of session 2 within the course content. By clicking on insert, shapes and flowchart on the tabs above you will find the symbols that you need)</a:t>
            </a:r>
          </a:p>
        </p:txBody>
      </p:sp>
    </p:spTree>
    <p:extLst>
      <p:ext uri="{BB962C8B-B14F-4D97-AF65-F5344CB8AC3E}">
        <p14:creationId xmlns:p14="http://schemas.microsoft.com/office/powerpoint/2010/main" val="98634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6F3E28-F83E-4CE3-832F-81212B85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112"/>
          </a:xfrm>
        </p:spPr>
        <p:txBody>
          <a:bodyPr>
            <a:normAutofit/>
          </a:bodyPr>
          <a:lstStyle/>
          <a:p>
            <a:r>
              <a:rPr lang="en-GB" sz="2000" b="1" dirty="0"/>
              <a:t>b) Use this slide to write about how </a:t>
            </a:r>
            <a:r>
              <a:rPr lang="en-GB" sz="2000" b="1" i="1" dirty="0"/>
              <a:t>you</a:t>
            </a:r>
            <a:r>
              <a:rPr lang="en-GB" sz="2000" b="1" dirty="0"/>
              <a:t> will apply the correct response to the vulnerabilities.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1E0B7-BDA3-4F7E-91CD-E4DD2AA4C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093"/>
            <a:ext cx="10515600" cy="5166870"/>
          </a:xfrm>
        </p:spPr>
        <p:txBody>
          <a:bodyPr>
            <a:normAutofit/>
          </a:bodyPr>
          <a:lstStyle/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66204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6F3E28-F83E-4CE3-832F-81212B85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112"/>
          </a:xfrm>
        </p:spPr>
        <p:txBody>
          <a:bodyPr>
            <a:noAutofit/>
          </a:bodyPr>
          <a:lstStyle/>
          <a:p>
            <a:r>
              <a:rPr lang="en-GB" sz="2000" b="1" dirty="0"/>
              <a:t>c) Use this slide to develop an appropriate communication to mitigate future vulnerabilities. This may be to staff, pupils or both and can be in any format that you choose.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1E0B7-BDA3-4F7E-91CD-E4DD2AA4C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0093"/>
            <a:ext cx="10515600" cy="5166870"/>
          </a:xfrm>
        </p:spPr>
        <p:txBody>
          <a:bodyPr>
            <a:normAutofit/>
          </a:bodyPr>
          <a:lstStyle/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00156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04009" y="1137168"/>
            <a:ext cx="11783981" cy="4958831"/>
          </a:xfrm>
        </p:spPr>
        <p:txBody>
          <a:bodyPr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400" dirty="0">
                <a:solidFill>
                  <a:schemeClr val="bg1"/>
                </a:solidFill>
              </a:rPr>
              <a:t>Finally check that you’ve included </a:t>
            </a:r>
            <a:r>
              <a:rPr lang="en-GB" sz="4400" b="1" dirty="0">
                <a:solidFill>
                  <a:schemeClr val="bg1"/>
                </a:solidFill>
              </a:rPr>
              <a:t>all</a:t>
            </a:r>
            <a:r>
              <a:rPr lang="en-GB" sz="4400" dirty="0">
                <a:solidFill>
                  <a:schemeClr val="bg1"/>
                </a:solidFill>
              </a:rPr>
              <a:t> of the information needed for each learning outcome, including the policies/procedures within the flow chart steps</a:t>
            </a:r>
            <a:br>
              <a:rPr lang="en-GB" sz="4400" dirty="0">
                <a:solidFill>
                  <a:schemeClr val="bg1"/>
                </a:solidFill>
              </a:rPr>
            </a:br>
            <a:br>
              <a:rPr lang="en-GB" sz="4400" dirty="0">
                <a:solidFill>
                  <a:schemeClr val="bg1"/>
                </a:solidFill>
              </a:rPr>
            </a:br>
            <a:r>
              <a:rPr lang="en-GB" sz="4000" dirty="0">
                <a:solidFill>
                  <a:schemeClr val="bg1"/>
                </a:solidFill>
              </a:rPr>
              <a:t>Save your work and upload this document along with your unit 3 assessment when ready. 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710793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apita">
  <a:themeElements>
    <a:clrScheme name="Custom 16">
      <a:dk1>
        <a:srgbClr val="505253"/>
      </a:dk1>
      <a:lt1>
        <a:srgbClr val="FFFFFF"/>
      </a:lt1>
      <a:dk2>
        <a:srgbClr val="000000"/>
      </a:dk2>
      <a:lt2>
        <a:srgbClr val="FFFFFF"/>
      </a:lt2>
      <a:accent1>
        <a:srgbClr val="01A1C1"/>
      </a:accent1>
      <a:accent2>
        <a:srgbClr val="7AB800"/>
      </a:accent2>
      <a:accent3>
        <a:srgbClr val="91004B"/>
      </a:accent3>
      <a:accent4>
        <a:srgbClr val="CA005D"/>
      </a:accent4>
      <a:accent5>
        <a:srgbClr val="005B82"/>
      </a:accent5>
      <a:accent6>
        <a:srgbClr val="4F2683"/>
      </a:accent6>
      <a:hlink>
        <a:srgbClr val="009999"/>
      </a:hlink>
      <a:folHlink>
        <a:srgbClr val="99CC00"/>
      </a:folHlink>
    </a:clrScheme>
    <a:fontScheme name="cap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apita" id="{DED1C81B-8B02-40F7-8A8D-76A65F3916FC}" vid="{A8F1A111-DE89-4DAB-A7C0-F4D95043B12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87DECA392B8D4D8C60CD9237EC68D2" ma:contentTypeVersion="10" ma:contentTypeDescription="Create a new document." ma:contentTypeScope="" ma:versionID="d992817c55ee1da141b67b810614f717">
  <xsd:schema xmlns:xsd="http://www.w3.org/2001/XMLSchema" xmlns:xs="http://www.w3.org/2001/XMLSchema" xmlns:p="http://schemas.microsoft.com/office/2006/metadata/properties" xmlns:ns2="dcdfc79c-d35f-4da9-acc7-991ee74c5f84" xmlns:ns3="32d82bde-80b7-409a-a298-ed73f3267659" targetNamespace="http://schemas.microsoft.com/office/2006/metadata/properties" ma:root="true" ma:fieldsID="d9fd9319ac643f21d853acfd95fa38be" ns2:_="" ns3:_="">
    <xsd:import namespace="dcdfc79c-d35f-4da9-acc7-991ee74c5f84"/>
    <xsd:import namespace="32d82bde-80b7-409a-a298-ed73f32676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fc79c-d35f-4da9-acc7-991ee74c5f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242fb91-79a5-4b93-8a08-4d9fe80d6a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d82bde-80b7-409a-a298-ed73f326765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36f37efe-020a-4d56-891e-7df1570dcedc}" ma:internalName="TaxCatchAll" ma:showField="CatchAllData" ma:web="32d82bde-80b7-409a-a298-ed73f32676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d82bde-80b7-409a-a298-ed73f3267659" xsi:nil="true"/>
    <lcf76f155ced4ddcb4097134ff3c332f xmlns="dcdfc79c-d35f-4da9-acc7-991ee74c5f8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0000FF6-9D2F-4DE3-8432-9428A2D0215D}"/>
</file>

<file path=customXml/itemProps2.xml><?xml version="1.0" encoding="utf-8"?>
<ds:datastoreItem xmlns:ds="http://schemas.openxmlformats.org/officeDocument/2006/customXml" ds:itemID="{6D26A356-5E58-410E-86FA-6CC042A4F803}"/>
</file>

<file path=customXml/itemProps3.xml><?xml version="1.0" encoding="utf-8"?>
<ds:datastoreItem xmlns:ds="http://schemas.openxmlformats.org/officeDocument/2006/customXml" ds:itemID="{50141329-7ABB-45AC-B5E5-448C840EC92B}"/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342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Bliss 2 Regular</vt:lpstr>
      <vt:lpstr>Calibri</vt:lpstr>
      <vt:lpstr>Calibri Light</vt:lpstr>
      <vt:lpstr>Swis721 BT</vt:lpstr>
      <vt:lpstr>Swis721 LtEx BT</vt:lpstr>
      <vt:lpstr>Verdana</vt:lpstr>
      <vt:lpstr>Office Theme</vt:lpstr>
      <vt:lpstr>1_Capita</vt:lpstr>
      <vt:lpstr> Certificate in Cyber Security Practices (L3) Unit 3 - Session 2</vt:lpstr>
      <vt:lpstr>a) Produce a flow chart that demonstrates the steps that you will take for the vulnerabilities. Remember to include the policies/procedures that should be referred to with the steps.  (for instructions on completing a flow chart, refer to the webinar at the end of session 2 within the course content. By clicking on insert, shapes and flowchart on the tabs above you will find the symbols that you need)</vt:lpstr>
      <vt:lpstr>b) Use this slide to write about how you will apply the correct response to the vulnerabilities.</vt:lpstr>
      <vt:lpstr>c) Use this slide to develop an appropriate communication to mitigate future vulnerabilities. This may be to staff, pupils or both and can be in any format that you choose. </vt:lpstr>
      <vt:lpstr>Finally check that you’ve included all of the information needed for each learning outcome, including the policies/procedures within the flow chart steps  Save your work and upload this document along with your unit 3 assessment when ready.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in Cyber Security Practices (L3) Unit 4 - Session 2</dc:title>
  <dc:creator>Matthews, Jennifer (Capita Learning)</dc:creator>
  <cp:lastModifiedBy>Matthews, Jennifer (Capita Learning)</cp:lastModifiedBy>
  <cp:revision>11</cp:revision>
  <dcterms:created xsi:type="dcterms:W3CDTF">2022-04-05T14:20:22Z</dcterms:created>
  <dcterms:modified xsi:type="dcterms:W3CDTF">2022-07-07T15:08:45Z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0x0101005187DECA392B8D4D8C60CD9237EC68D2</vt:lpwstr>
  </property>
</Properties>
</file>