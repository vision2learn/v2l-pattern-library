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3" r:id="rId2"/>
  </p:sldMasterIdLst>
  <p:sldIdLst>
    <p:sldId id="263" r:id="rId3"/>
    <p:sldId id="257" r:id="rId4"/>
    <p:sldId id="258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4118-EA4C-48D1-8263-D69C3B105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34D71-749A-429D-B03F-032ABF2EF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D2B0B-F5D9-4E94-8CD8-8A107D57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F7C6-4C67-4C1E-B647-0CB34F8A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EE954-FF58-4ADF-A710-57C92BD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0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2EC-5102-42B9-AC96-2484A132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ADCEE-6DD1-4B98-A441-F75D76A5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0E25-499C-4DA7-842B-7C6524FE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BCB9-59EB-40B7-B696-085FCF92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6E8EC-D006-4D1C-8603-9058B1E5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72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50D4-E295-45A0-9A5A-378DAB68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851A-50E0-47B3-A074-128940205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0664-BC9A-40F8-BD17-2DDB3BA7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CEB2-17F3-4D14-83EF-0F27777E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4DBB4-62BE-478D-9B76-A3A7DBF8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29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7D5C-A2BC-406E-87FA-B1F41934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7BFE-F9F3-4AF2-A2FC-0BD938143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03887-EAB1-443C-98F9-1CBA29460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267F-BB17-41AB-981C-1FF2C9DF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D94C0-772A-4FB5-863B-C11AD41D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AF0DC-7A2A-491E-8ABB-D261824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45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4020-BDD7-4EBB-AB22-A85EFB0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82087-91BF-4C8E-B12A-FD75DE843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984AD-AECA-44D6-9987-3C709CBB3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BF944-3821-4F2C-B2DF-369A6F972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12B0F-0241-4BE9-9E6E-B61441CC3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173DA-7732-421A-BA4A-6F1DBA0B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BC9CD-B782-472A-B296-0C408322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B532F-68CB-416C-901D-0F1AE634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4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3E42-3395-444D-AD95-CE8F4144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73D0E-562F-4DFC-A077-463D3064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678EB-C474-440E-AA6F-3572387A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4B940-B32C-47F7-93B7-8723122F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6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0B18-48C6-4AB2-812C-22450B7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8A980-B518-4E23-940C-C1BA674F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12C10-9DA9-40C1-996A-F7BB0618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6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B507-BB9E-49A5-8BEF-9D236123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BC28-3426-415B-8E1B-34A807BF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736AC-093F-48A9-B27A-D747E22B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56EA-3E42-45B5-9B12-04593CDA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B155D-2C29-4B66-80E8-1E070A73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8A704-B4C5-4D76-BAB5-1B4025DA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45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9620-CD7C-450E-A3BA-D4A86D50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A40E-E418-4202-9FB7-A3FF3C1F6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9E12-864F-4361-8A17-A86E8C32D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4BC4-61A5-4139-9B5F-E3EFA05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0A997-6301-4F08-8DB8-EAF6A2D9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69D1A-CDD9-44E9-A350-326D19BE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36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79CD-0EE6-4FFC-84CD-6DFCE2CB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79EC4-D6FA-4FC5-806A-F8AEAA7E9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AEDB-3B52-4F70-AD2E-846E9A63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CD2C7-CA1E-44F5-86A7-2BB106B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E7F3-8000-43FF-AF18-BD24EC2B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B4859-930B-4659-B1EE-48E0B918C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3583-22A8-4CEB-8CB2-5B4686E92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6B38E-34CA-428B-BA5D-C1EF4AD7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A87C-EBE0-477A-ABD4-F61C525C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591E-188C-4E9E-ABD9-2A5E8E2E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4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-1"/>
            <a:ext cx="12302876" cy="5803900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670984" y="402315"/>
            <a:ext cx="6256683" cy="861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vision</a:t>
            </a:r>
            <a:r>
              <a:rPr lang="en-GB" sz="4800" b="1" dirty="0">
                <a:solidFill>
                  <a:schemeClr val="bg1"/>
                </a:solidFill>
                <a:latin typeface="Swis721 BT" panose="020B0504020202020204" pitchFamily="34" charset="0"/>
              </a:rPr>
              <a:t>2</a:t>
            </a:r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learn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1550743"/>
            <a:ext cx="66950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274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806F2-7230-413D-A9CD-B94449F2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33BB-C9EE-4618-9B84-21E3EE6D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7888-B4B7-419C-BCC0-EBF24FD5D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5936E-8338-4FF0-A335-701F0F342296}" type="datetimeFigureOut">
              <a:rPr lang="en-GB" smtClean="0"/>
              <a:t>10/05/2022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FD96-B711-4422-9D70-C2417700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C4C40-CAF9-4B2D-B1A5-C42A56B46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33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1027" y="-1"/>
            <a:ext cx="12223027" cy="6237313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433143"/>
            <a:ext cx="108606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0984" y="2730501"/>
            <a:ext cx="10860616" cy="3205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-31027" y="188640"/>
            <a:ext cx="558408" cy="6048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6326212"/>
            <a:ext cx="2048203" cy="2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9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 spd="slow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None/>
        <a:defRPr sz="1500">
          <a:solidFill>
            <a:schemeClr val="tx1"/>
          </a:solidFill>
          <a:latin typeface="+mj-lt"/>
          <a:ea typeface="+mn-ea"/>
          <a:cs typeface="+mn-cs"/>
        </a:defRPr>
      </a:lvl1pPr>
      <a:lvl2pPr marL="6000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2pPr>
      <a:lvl3pPr marL="9429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1" userDrawn="1">
          <p15:clr>
            <a:srgbClr val="F26B43"/>
          </p15:clr>
        </p15:guide>
        <p15:guide id="2" pos="4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AF1784-4500-4A9B-AFCD-A4F8F495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217" y="0"/>
            <a:ext cx="5212516" cy="1021293"/>
          </a:xfrm>
        </p:spPr>
        <p:txBody>
          <a:bodyPr>
            <a:normAutofit/>
          </a:bodyPr>
          <a:lstStyle/>
          <a:p>
            <a:br>
              <a:rPr lang="en-GB" sz="2000" dirty="0"/>
            </a:br>
            <a:r>
              <a:rPr lang="en-GB" sz="2000" dirty="0"/>
              <a:t>Certificate in Cyber Security Practices (L3)</a:t>
            </a:r>
            <a:br>
              <a:rPr lang="en-GB" sz="2000" dirty="0"/>
            </a:br>
            <a:r>
              <a:rPr lang="en-GB" sz="2000" dirty="0"/>
              <a:t>Unit 3 - Session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20B8C-9E63-493B-A86F-7A6BEA83BAE8}"/>
              </a:ext>
            </a:extLst>
          </p:cNvPr>
          <p:cNvSpPr txBox="1"/>
          <p:nvPr/>
        </p:nvSpPr>
        <p:spPr>
          <a:xfrm>
            <a:off x="733507" y="1343169"/>
            <a:ext cx="1091080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You will have read the case study for Grange Road Secondary School on page 2 (session 2) of the course content and be aware of the vulnerabilities that have been identified within the school. </a:t>
            </a:r>
          </a:p>
          <a:p>
            <a:pPr algn="l"/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200" dirty="0">
                <a:solidFill>
                  <a:schemeClr val="bg1"/>
                </a:solidFill>
              </a:rPr>
              <a:t>Use this document to:</a:t>
            </a:r>
          </a:p>
          <a:p>
            <a:pPr marL="457200" indent="-457200" algn="l"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Produce a flow chart that demonstrates the steps to be taken for the vulnerabilities. You must include the policies/procedures that should be referred to within the steps [2.2]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Describe how you will apply the correct response to the vulnerabilities [2.3]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Develop an appropriate communication to mitigate future vulnerabilities [2.4]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</a:rPr>
              <a:t>The following slides are provided for each of the above. You may insert additional slides and amend the layout as you wish. </a:t>
            </a:r>
          </a:p>
        </p:txBody>
      </p:sp>
    </p:spTree>
    <p:extLst>
      <p:ext uri="{BB962C8B-B14F-4D97-AF65-F5344CB8AC3E}">
        <p14:creationId xmlns:p14="http://schemas.microsoft.com/office/powerpoint/2010/main" val="413528708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C911-E9E4-4FE6-9989-ADFDF666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884" cy="1525668"/>
          </a:xfrm>
        </p:spPr>
        <p:txBody>
          <a:bodyPr>
            <a:noAutofit/>
          </a:bodyPr>
          <a:lstStyle/>
          <a:p>
            <a:pPr algn="l"/>
            <a:r>
              <a:rPr lang="en-GB" sz="2000" b="1" dirty="0"/>
              <a:t>a) Produce a flow chart that demonstrates the steps to be taken for the vulnerabilities. Remember to include the policies/procedures that should be referred to with the steps. </a:t>
            </a:r>
            <a:br>
              <a:rPr lang="en-GB" sz="2000" dirty="0"/>
            </a:br>
            <a:r>
              <a:rPr lang="en-GB" sz="2000" dirty="0"/>
              <a:t>(for instructions on completing a flow chart, refer to the webinar at the end of session 2 within the course content. By clicking on insert, shapes and flowchart on the tabs above you will find the symbols that you need)</a:t>
            </a:r>
          </a:p>
        </p:txBody>
      </p:sp>
    </p:spTree>
    <p:extLst>
      <p:ext uri="{BB962C8B-B14F-4D97-AF65-F5344CB8AC3E}">
        <p14:creationId xmlns:p14="http://schemas.microsoft.com/office/powerpoint/2010/main" val="9863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/>
          </a:bodyPr>
          <a:lstStyle/>
          <a:p>
            <a:r>
              <a:rPr lang="en-GB" sz="2000" b="1" dirty="0"/>
              <a:t>b) Use this slide to write about how the correct response to the vulnerabilities will be applied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620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Autofit/>
          </a:bodyPr>
          <a:lstStyle/>
          <a:p>
            <a:r>
              <a:rPr lang="en-GB" sz="2000" b="1" dirty="0"/>
              <a:t>c) Use this slide to develop an appropriate communication to mitigate future vulnerabilities. These may be to staff, pupils or both and can be any format that you choose.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0156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4009" y="1137168"/>
            <a:ext cx="11783981" cy="4958831"/>
          </a:xfr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400" dirty="0">
                <a:solidFill>
                  <a:schemeClr val="bg1"/>
                </a:solidFill>
              </a:rPr>
              <a:t>Finally check that you’ve included </a:t>
            </a:r>
            <a:r>
              <a:rPr lang="en-GB" sz="4400" b="1" dirty="0">
                <a:solidFill>
                  <a:schemeClr val="bg1"/>
                </a:solidFill>
              </a:rPr>
              <a:t>all</a:t>
            </a:r>
            <a:r>
              <a:rPr lang="en-GB" sz="4400" dirty="0">
                <a:solidFill>
                  <a:schemeClr val="bg1"/>
                </a:solidFill>
              </a:rPr>
              <a:t> of the information needed for each learning outcome, including the policies/procedures within the flow chart steps</a:t>
            </a:r>
            <a:br>
              <a:rPr lang="en-GB" sz="4400" dirty="0">
                <a:solidFill>
                  <a:schemeClr val="bg1"/>
                </a:solidFill>
              </a:rPr>
            </a:b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Save your work and upload this document along with your unit 3 assessment when ready.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71079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pita">
  <a:themeElements>
    <a:clrScheme name="Custom 16">
      <a:dk1>
        <a:srgbClr val="505253"/>
      </a:dk1>
      <a:lt1>
        <a:srgbClr val="FFFFFF"/>
      </a:lt1>
      <a:dk2>
        <a:srgbClr val="000000"/>
      </a:dk2>
      <a:lt2>
        <a:srgbClr val="FFFFFF"/>
      </a:lt2>
      <a:accent1>
        <a:srgbClr val="01A1C1"/>
      </a:accent1>
      <a:accent2>
        <a:srgbClr val="7AB800"/>
      </a:accent2>
      <a:accent3>
        <a:srgbClr val="91004B"/>
      </a:accent3>
      <a:accent4>
        <a:srgbClr val="CA005D"/>
      </a:accent4>
      <a:accent5>
        <a:srgbClr val="005B82"/>
      </a:accent5>
      <a:accent6>
        <a:srgbClr val="4F2683"/>
      </a:accent6>
      <a:hlink>
        <a:srgbClr val="009999"/>
      </a:hlink>
      <a:folHlink>
        <a:srgbClr val="99CC00"/>
      </a:folHlink>
    </a:clrScheme>
    <a:fontScheme name="cap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pita" id="{DED1C81B-8B02-40F7-8A8D-76A65F3916FC}" vid="{A8F1A111-DE89-4DAB-A7C0-F4D95043B12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313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Bliss 2 Regular</vt:lpstr>
      <vt:lpstr>Calibri</vt:lpstr>
      <vt:lpstr>Calibri Light</vt:lpstr>
      <vt:lpstr>Swis721 BT</vt:lpstr>
      <vt:lpstr>Swis721 LtEx BT</vt:lpstr>
      <vt:lpstr>Verdana</vt:lpstr>
      <vt:lpstr>Office Theme</vt:lpstr>
      <vt:lpstr>1_Capita</vt:lpstr>
      <vt:lpstr> Certificate in Cyber Security Practices (L3) Unit 3 - Session 2</vt:lpstr>
      <vt:lpstr>a) Produce a flow chart that demonstrates the steps to be taken for the vulnerabilities. Remember to include the policies/procedures that should be referred to with the steps.  (for instructions on completing a flow chart, refer to the webinar at the end of session 2 within the course content. By clicking on insert, shapes and flowchart on the tabs above you will find the symbols that you need)</vt:lpstr>
      <vt:lpstr>b) Use this slide to write about how the correct response to the vulnerabilities will be applied </vt:lpstr>
      <vt:lpstr>c) Use this slide to develop an appropriate communication to mitigate future vulnerabilities. These may be to staff, pupils or both and can be any format that you choose. </vt:lpstr>
      <vt:lpstr>Finally check that you’ve included all of the information needed for each learning outcome, including the policies/procedures within the flow chart steps  Save your work and upload this document along with your unit 3 assessment when ready.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in Cyber Security Practices (L3) Unit 4 - Session 2</dc:title>
  <dc:creator>Matthews, Jennifer (Capita Learning)</dc:creator>
  <cp:lastModifiedBy>Matthews, Jennifer (Capita Learning)</cp:lastModifiedBy>
  <cp:revision>9</cp:revision>
  <dcterms:created xsi:type="dcterms:W3CDTF">2022-04-05T14:20:22Z</dcterms:created>
  <dcterms:modified xsi:type="dcterms:W3CDTF">2022-05-10T14:51:25Z</dcterms:modified>
</cp:coreProperties>
</file>